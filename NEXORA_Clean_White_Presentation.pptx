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914400"/>
            <a:ext cx="10362895"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548640" rIns="548640" tIns="457200"/>
          <a:lstStyle/>
          <a:p>
            <a:pPr algn="ctr">
              <a:spcAft>
                <a:spcPts val="1000"/>
              </a:spcAft>
              <a:defRPr sz="1100" b="1">
                <a:solidFill>
                  <a:srgbClr val="4F46E5"/>
                </a:solidFill>
              </a:defRPr>
            </a:pPr>
            <a:r>
              <a:t>AI-POWERED EDUCATIONAL &amp; CAREER PLATFORM</a:t>
            </a:r>
          </a:p>
          <a:p>
            <a:pPr>
              <a:spcAft>
                <a:spcPts val="600"/>
              </a:spcAft>
              <a:defRPr sz="4400" b="1">
                <a:solidFill>
                  <a:srgbClr val="0F172A"/>
                </a:solidFill>
              </a:defRPr>
            </a:pPr>
            <a:r>
              <a:t>NEXORA SaaS</a:t>
            </a:r>
          </a:p>
          <a:p>
            <a:pPr>
              <a:spcAft>
                <a:spcPts val="1400"/>
              </a:spcAft>
              <a:defRPr sz="2000" b="1">
                <a:solidFill>
                  <a:srgbClr val="0284C7"/>
                </a:solidFill>
              </a:defRPr>
            </a:pPr>
            <a:r>
              <a:t>AI-Powered Course Recommendation &amp; Dynamic Roadmap Engine</a:t>
            </a:r>
          </a:p>
          <a:p>
            <a:pPr>
              <a:spcAft>
                <a:spcPts val="2200"/>
              </a:spcAft>
              <a:defRPr sz="1300">
                <a:solidFill>
                  <a:srgbClr val="334155"/>
                </a:solidFill>
              </a:defRPr>
            </a:pPr>
            <a:r>
              <a:t>Automated Career Navigation, Topological Curriculum Sequencing, Diagnostic Skill Gap Scoring &amp; 24/7 Context-Aware AI Guidance.</a:t>
            </a:r>
          </a:p>
          <a:p>
            <a:pPr>
              <a:spcAft>
                <a:spcPts val="600"/>
              </a:spcAft>
              <a:defRPr sz="1200" b="1">
                <a:solidFill>
                  <a:srgbClr val="0F172A"/>
                </a:solidFill>
              </a:defRPr>
            </a:pPr>
            <a:r>
              <a:t>Presenter Information: Team Talent Innovators  |  Category: AI in Education &amp; Career Placement</a:t>
            </a:r>
          </a:p>
          <a:p>
            <a:pPr>
              <a:defRPr sz="1050">
                <a:solidFill>
                  <a:srgbClr val="0D9488"/>
                </a:solidFill>
              </a:defRPr>
            </a:pPr>
            <a:r>
              <a:t>Live Deployment: https://nexora-path-finder.vercel.app  •  Powered by Google Gemini AI &amp; React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15600" cy="1097280"/>
          </a:xfrm>
          <a:prstGeom prst="rect">
            <a:avLst/>
          </a:prstGeom>
          <a:noFill/>
        </p:spPr>
        <p:txBody>
          <a:bodyPr wrap="square" lIns="0" tIns="0" rIns="0" bIns="0">
            <a:spAutoFit/>
          </a:bodyPr>
          <a:lstStyle/>
          <a:p>
            <a:pPr>
              <a:spcAft>
                <a:spcPts val="300"/>
              </a:spcAft>
              <a:defRPr sz="1000" b="1">
                <a:solidFill>
                  <a:srgbClr val="4F46E5"/>
                </a:solidFill>
              </a:defRPr>
            </a:pPr>
            <a:r>
              <a:t>PRESENTER DETAILS</a:t>
            </a:r>
          </a:p>
          <a:p>
            <a:pPr>
              <a:defRPr sz="2200" b="1">
                <a:solidFill>
                  <a:srgbClr val="0F172A"/>
                </a:solidFill>
              </a:defRPr>
            </a:pPr>
            <a:r>
              <a:t>Project Presentation Team</a:t>
            </a:r>
          </a:p>
          <a:p>
            <a:pPr>
              <a:spcBef>
                <a:spcPts val="200"/>
              </a:spcBef>
              <a:defRPr sz="1150">
                <a:solidFill>
                  <a:srgbClr val="64748B"/>
                </a:solidFill>
              </a:defRPr>
            </a:pPr>
            <a:r>
              <a:t>The innovators behind NEXORA's design and execution</a:t>
            </a:r>
          </a:p>
        </p:txBody>
      </p:sp>
      <p:sp>
        <p:nvSpPr>
          <p:cNvPr id="4" name="Rounded Rectangle 3"/>
          <p:cNvSpPr/>
          <p:nvPr/>
        </p:nvSpPr>
        <p:spPr>
          <a:xfrm>
            <a:off x="822960" y="1737360"/>
            <a:ext cx="512064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800"/>
              </a:spcAft>
              <a:defRPr sz="1100" b="1">
                <a:solidFill>
                  <a:srgbClr val="4F46E5"/>
                </a:solidFill>
              </a:defRPr>
            </a:pPr>
            <a:r>
              <a:t>TEAM DETAILS</a:t>
            </a:r>
          </a:p>
          <a:p>
            <a:pPr>
              <a:defRPr sz="1300">
                <a:solidFill>
                  <a:srgbClr val="64748B"/>
                </a:solidFill>
              </a:defRPr>
            </a:pPr>
            <a:r>
              <a:t>Team Name:</a:t>
            </a:r>
          </a:p>
          <a:p>
            <a:pPr>
              <a:spcAft>
                <a:spcPts val="2000"/>
              </a:spcAft>
              <a:defRPr sz="2400" b="1">
                <a:solidFill>
                  <a:srgbClr val="0F172A"/>
                </a:solidFill>
              </a:defRPr>
            </a:pPr>
            <a:r>
              <a:t>Talent Innovators</a:t>
            </a:r>
          </a:p>
          <a:p>
            <a:pPr>
              <a:defRPr sz="1300">
                <a:solidFill>
                  <a:srgbClr val="64748B"/>
                </a:solidFill>
              </a:defRPr>
            </a:pPr>
            <a:r>
              <a:t>Project Track / Theme:</a:t>
            </a:r>
          </a:p>
          <a:p>
            <a:pPr>
              <a:defRPr sz="1500" b="1">
                <a:solidFill>
                  <a:srgbClr val="0284C7"/>
                </a:solidFill>
              </a:defRPr>
            </a:pPr>
            <a:r>
              <a:t>AI in Education, Adaptive Learning &amp; Career Placement</a:t>
            </a:r>
          </a:p>
        </p:txBody>
      </p:sp>
      <p:sp>
        <p:nvSpPr>
          <p:cNvPr id="5" name="Rounded Rectangle 4"/>
          <p:cNvSpPr/>
          <p:nvPr/>
        </p:nvSpPr>
        <p:spPr>
          <a:xfrm>
            <a:off x="6217920" y="1737360"/>
            <a:ext cx="516636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400"/>
              </a:spcAft>
              <a:defRPr sz="1100" b="1">
                <a:solidFill>
                  <a:srgbClr val="0D9488"/>
                </a:solidFill>
              </a:defRPr>
            </a:pPr>
            <a:r>
              <a:t>TEAM MEMBERS</a:t>
            </a:r>
          </a:p>
          <a:p>
            <a:pPr>
              <a:spcAft>
                <a:spcPts val="1600"/>
              </a:spcAft>
              <a:defRPr sz="1300">
                <a:solidFill>
                  <a:srgbClr val="0F172A"/>
                </a:solidFill>
              </a:defRPr>
            </a:pPr>
            <a:r>
              <a:t>1.  ___________________________________  (Team Lead)</a:t>
            </a:r>
          </a:p>
          <a:p>
            <a:pPr>
              <a:spcAft>
                <a:spcPts val="1600"/>
              </a:spcAft>
              <a:defRPr sz="1300">
                <a:solidFill>
                  <a:srgbClr val="0F172A"/>
                </a:solidFill>
              </a:defRPr>
            </a:pPr>
            <a:r>
              <a:t>2.  ___________________________________  (Developer / AI)</a:t>
            </a:r>
          </a:p>
          <a:p>
            <a:pPr>
              <a:spcAft>
                <a:spcPts val="1600"/>
              </a:spcAft>
              <a:defRPr sz="1300">
                <a:solidFill>
                  <a:srgbClr val="0F172A"/>
                </a:solidFill>
              </a:defRPr>
            </a:pPr>
            <a:r>
              <a:t>3.  ___________________________________  (Developer / UI)</a:t>
            </a:r>
          </a:p>
          <a:p>
            <a:pPr>
              <a:spcAft>
                <a:spcPts val="1600"/>
              </a:spcAft>
              <a:defRPr sz="1300">
                <a:solidFill>
                  <a:srgbClr val="0F172A"/>
                </a:solidFill>
              </a:defRPr>
            </a:pPr>
            <a:r>
              <a:t>4.  ___________________________________  (Research / QA)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15600" cy="1097280"/>
          </a:xfrm>
          <a:prstGeom prst="rect">
            <a:avLst/>
          </a:prstGeom>
          <a:noFill/>
        </p:spPr>
        <p:txBody>
          <a:bodyPr wrap="square" lIns="0" tIns="0" rIns="0" bIns="0">
            <a:spAutoFit/>
          </a:bodyPr>
          <a:lstStyle/>
          <a:p>
            <a:pPr>
              <a:spcAft>
                <a:spcPts val="300"/>
              </a:spcAft>
              <a:defRPr sz="1000" b="1">
                <a:solidFill>
                  <a:srgbClr val="4F46E5"/>
                </a:solidFill>
              </a:defRPr>
            </a:pPr>
            <a:r>
              <a:t>PROBLEM UNDERSTANDING</a:t>
            </a:r>
          </a:p>
          <a:p>
            <a:pPr>
              <a:defRPr sz="2200" b="1">
                <a:solidFill>
                  <a:srgbClr val="0F172A"/>
                </a:solidFill>
              </a:defRPr>
            </a:pPr>
            <a:r>
              <a:t>The Gap in Modern Technical Learning &amp; Career Readiness</a:t>
            </a:r>
          </a:p>
          <a:p>
            <a:pPr>
              <a:spcBef>
                <a:spcPts val="200"/>
              </a:spcBef>
              <a:defRPr sz="1150">
                <a:solidFill>
                  <a:srgbClr val="64748B"/>
                </a:solidFill>
              </a:defRPr>
            </a:pPr>
            <a:r>
              <a:t>Understanding the structural pain points that cause 90% of learners to drop out</a:t>
            </a:r>
          </a:p>
        </p:txBody>
      </p:sp>
      <p:sp>
        <p:nvSpPr>
          <p:cNvPr id="4" name="Rounded Rectangle 3"/>
          <p:cNvSpPr/>
          <p:nvPr/>
        </p:nvSpPr>
        <p:spPr>
          <a:xfrm>
            <a:off x="822960" y="1645920"/>
            <a:ext cx="338328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500" b="1">
                <a:solidFill>
                  <a:srgbClr val="4F46E5"/>
                </a:solidFill>
              </a:defRPr>
            </a:pPr>
            <a:r>
              <a:t>The Gap in E-Learning</a:t>
            </a:r>
          </a:p>
          <a:p>
            <a:pPr>
              <a:lnSpc>
                <a:spcPct val="125000"/>
              </a:lnSpc>
              <a:defRPr sz="1100">
                <a:solidFill>
                  <a:srgbClr val="334155"/>
                </a:solidFill>
              </a:defRPr>
            </a:pPr>
            <a:r>
              <a:t>Online learners face severe information overload with thousands of disconnected video tutorials. Finding the exact right courses and sequencing them into an actionable study path is frustrating, time-consuming, and prone to abandonment.</a:t>
            </a:r>
          </a:p>
        </p:txBody>
      </p:sp>
      <p:sp>
        <p:nvSpPr>
          <p:cNvPr id="5" name="Rounded Rectangle 4"/>
          <p:cNvSpPr/>
          <p:nvPr/>
        </p:nvSpPr>
        <p:spPr>
          <a:xfrm>
            <a:off x="4389120" y="1645920"/>
            <a:ext cx="338328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500" b="1">
                <a:solidFill>
                  <a:srgbClr val="0284C7"/>
                </a:solidFill>
              </a:defRPr>
            </a:pPr>
            <a:r>
              <a:t>Core Pain Points</a:t>
            </a:r>
          </a:p>
          <a:p>
            <a:pPr>
              <a:lnSpc>
                <a:spcPct val="125000"/>
              </a:lnSpc>
              <a:defRPr sz="1100">
                <a:solidFill>
                  <a:srgbClr val="334155"/>
                </a:solidFill>
              </a:defRPr>
            </a:pPr>
            <a:r>
              <a:t>• Lack of Goal Alignment: Generic courses ignore student starting baselines.</a:t>
            </a:r>
            <a:br/>
            <a:r>
              <a:t>• Absence of Prerequisite Clarity: Students fail advanced topics due to unassessed foundation gaps.</a:t>
            </a:r>
            <a:br/>
            <a:r>
              <a:t>• No Accountability: Zero real-time diagnostic feedback or personalized next steps.</a:t>
            </a:r>
          </a:p>
        </p:txBody>
      </p:sp>
      <p:sp>
        <p:nvSpPr>
          <p:cNvPr id="6" name="Rounded Rectangle 5"/>
          <p:cNvSpPr/>
          <p:nvPr/>
        </p:nvSpPr>
        <p:spPr>
          <a:xfrm>
            <a:off x="7955279" y="1645920"/>
            <a:ext cx="3383280"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200"/>
              </a:spcAft>
              <a:defRPr sz="1500" b="1">
                <a:solidFill>
                  <a:srgbClr val="0D9488"/>
                </a:solidFill>
              </a:defRPr>
            </a:pPr>
            <a:r>
              <a:t>Our Core Mission</a:t>
            </a:r>
          </a:p>
          <a:p>
            <a:pPr>
              <a:lnSpc>
                <a:spcPct val="125000"/>
              </a:lnSpc>
              <a:defRPr sz="1100">
                <a:solidFill>
                  <a:srgbClr val="334155"/>
                </a:solidFill>
              </a:defRPr>
            </a:pPr>
            <a:r>
              <a:t>Build an intelligent SaaS platform that dynamically recommends courses, explains technical relevance using Google Gemini LLMs, visualizes prerequisite dependency DAGs, and generates adaptive daily milestones.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15600" cy="1097280"/>
          </a:xfrm>
          <a:prstGeom prst="rect">
            <a:avLst/>
          </a:prstGeom>
          <a:noFill/>
        </p:spPr>
        <p:txBody>
          <a:bodyPr wrap="square" lIns="0" tIns="0" rIns="0" bIns="0">
            <a:spAutoFit/>
          </a:bodyPr>
          <a:lstStyle/>
          <a:p>
            <a:pPr>
              <a:spcAft>
                <a:spcPts val="300"/>
              </a:spcAft>
              <a:defRPr sz="1000" b="1">
                <a:solidFill>
                  <a:srgbClr val="4F46E5"/>
                </a:solidFill>
              </a:defRPr>
            </a:pPr>
            <a:r>
              <a:t>SOLUTION APPROACH</a:t>
            </a:r>
          </a:p>
          <a:p>
            <a:pPr>
              <a:defRPr sz="2200" b="1">
                <a:solidFill>
                  <a:srgbClr val="0F172A"/>
                </a:solidFill>
              </a:defRPr>
            </a:pPr>
            <a:r>
              <a:t>How NEXORA Solves Curriculum Sequencing</a:t>
            </a:r>
          </a:p>
          <a:p>
            <a:pPr>
              <a:spcBef>
                <a:spcPts val="200"/>
              </a:spcBef>
              <a:defRPr sz="1150">
                <a:solidFill>
                  <a:srgbClr val="64748B"/>
                </a:solidFill>
              </a:defRPr>
            </a:pPr>
            <a:r>
              <a:t>An end-to-end adaptive framework guiding learners from goal intake to recruiter readiness</a:t>
            </a:r>
          </a:p>
        </p:txBody>
      </p:sp>
      <p:sp>
        <p:nvSpPr>
          <p:cNvPr id="4" name="Rounded Rectangle 3"/>
          <p:cNvSpPr/>
          <p:nvPr/>
        </p:nvSpPr>
        <p:spPr>
          <a:xfrm>
            <a:off x="822960" y="1645920"/>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800"/>
              </a:spcAft>
              <a:defRPr sz="1450" b="1">
                <a:solidFill>
                  <a:srgbClr val="4F46E5"/>
                </a:solidFill>
              </a:defRPr>
            </a:pPr>
            <a:r>
              <a:t>1. Smart Goal Matching</a:t>
            </a:r>
          </a:p>
          <a:p>
            <a:pPr>
              <a:lnSpc>
                <a:spcPct val="120000"/>
              </a:lnSpc>
              <a:defRPr sz="1100">
                <a:solidFill>
                  <a:srgbClr val="334155"/>
                </a:solidFill>
              </a:defRPr>
            </a:pPr>
            <a:r>
              <a:t>Synthesizes natural language inputs (voice/text) into tailored goal profiles (SWE, AI/ML, JEE, NEET, Data Science, Career Switch), matching learners directly to curated high-yield topics.</a:t>
            </a:r>
          </a:p>
        </p:txBody>
      </p:sp>
      <p:sp>
        <p:nvSpPr>
          <p:cNvPr id="5" name="Rounded Rectangle 4"/>
          <p:cNvSpPr/>
          <p:nvPr/>
        </p:nvSpPr>
        <p:spPr>
          <a:xfrm>
            <a:off x="6172200" y="1645920"/>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800"/>
              </a:spcAft>
              <a:defRPr sz="1450" b="1">
                <a:solidFill>
                  <a:srgbClr val="0284C7"/>
                </a:solidFill>
              </a:defRPr>
            </a:pPr>
            <a:r>
              <a:t>2. Real-Time Explanation Engine</a:t>
            </a:r>
          </a:p>
          <a:p>
            <a:pPr>
              <a:lnSpc>
                <a:spcPct val="120000"/>
              </a:lnSpc>
              <a:defRPr sz="1100">
                <a:solidFill>
                  <a:srgbClr val="334155"/>
                </a:solidFill>
              </a:defRPr>
            </a:pPr>
            <a:r>
              <a:t>Curriculum analysis breaking down every milestone into prerequisites, core conceptual topics, verified free learning resources, and capstone project blueprints.</a:t>
            </a:r>
          </a:p>
        </p:txBody>
      </p:sp>
      <p:sp>
        <p:nvSpPr>
          <p:cNvPr id="6" name="Rounded Rectangle 5"/>
          <p:cNvSpPr/>
          <p:nvPr/>
        </p:nvSpPr>
        <p:spPr>
          <a:xfrm>
            <a:off x="822960" y="3977639"/>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800"/>
              </a:spcAft>
              <a:defRPr sz="1450" b="1">
                <a:solidFill>
                  <a:srgbClr val="0D9488"/>
                </a:solidFill>
              </a:defRPr>
            </a:pPr>
            <a:r>
              <a:t>3. Dynamic DAG Sequencing</a:t>
            </a:r>
          </a:p>
          <a:p>
            <a:pPr>
              <a:lnSpc>
                <a:spcPct val="120000"/>
              </a:lnSpc>
              <a:defRPr sz="1100">
                <a:solidFill>
                  <a:srgbClr val="334155"/>
                </a:solidFill>
              </a:defRPr>
            </a:pPr>
            <a:r>
              <a:t>Generates topological Directed Acyclic Graphs with strict node status tracking (Completed, In Progress, Unlocked, Locked, Remediation) based on real-time diagnostic performance.</a:t>
            </a:r>
          </a:p>
        </p:txBody>
      </p:sp>
      <p:sp>
        <p:nvSpPr>
          <p:cNvPr id="7" name="Rounded Rectangle 6"/>
          <p:cNvSpPr/>
          <p:nvPr/>
        </p:nvSpPr>
        <p:spPr>
          <a:xfrm>
            <a:off x="6172200" y="3977639"/>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28600"/>
          <a:lstStyle/>
          <a:p>
            <a:pPr algn="ctr">
              <a:spcAft>
                <a:spcPts val="800"/>
              </a:spcAft>
              <a:defRPr sz="1450" b="1">
                <a:solidFill>
                  <a:srgbClr val="0F172A"/>
                </a:solidFill>
              </a:defRPr>
            </a:pPr>
            <a:r>
              <a:t>4. Secure Workspaces &amp; ATS Readiness</a:t>
            </a:r>
          </a:p>
          <a:p>
            <a:pPr>
              <a:lnSpc>
                <a:spcPct val="120000"/>
              </a:lnSpc>
              <a:defRPr sz="1100">
                <a:solidFill>
                  <a:srgbClr val="334155"/>
                </a:solidFill>
              </a:defRPr>
            </a:pPr>
            <a:r>
              <a:t>Zero-latency client persistent session with optional Firebase Cloud sync, paired with an automated ATS resume builder calculating real-time recruiter match scores.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15600" cy="1097280"/>
          </a:xfrm>
          <a:prstGeom prst="rect">
            <a:avLst/>
          </a:prstGeom>
          <a:noFill/>
        </p:spPr>
        <p:txBody>
          <a:bodyPr wrap="square" lIns="0" tIns="0" rIns="0" bIns="0">
            <a:spAutoFit/>
          </a:bodyPr>
          <a:lstStyle/>
          <a:p>
            <a:pPr>
              <a:spcAft>
                <a:spcPts val="300"/>
              </a:spcAft>
              <a:defRPr sz="1000" b="1">
                <a:solidFill>
                  <a:srgbClr val="4F46E5"/>
                </a:solidFill>
              </a:defRPr>
            </a:pPr>
            <a:r>
              <a:t>SYSTEM ARCHITECTURE DIAGRAM</a:t>
            </a:r>
          </a:p>
          <a:p>
            <a:pPr>
              <a:defRPr sz="2200" b="1">
                <a:solidFill>
                  <a:srgbClr val="0F172A"/>
                </a:solidFill>
              </a:defRPr>
            </a:pPr>
            <a:r>
              <a:t>Visual End-to-End System Architecture</a:t>
            </a:r>
          </a:p>
          <a:p>
            <a:pPr>
              <a:spcBef>
                <a:spcPts val="200"/>
              </a:spcBef>
              <a:defRPr sz="1150">
                <a:solidFill>
                  <a:srgbClr val="64748B"/>
                </a:solidFill>
              </a:defRPr>
            </a:pPr>
            <a:r>
              <a:t>Dataflow across UI presentation, adaptive engines, Gemini LLM reasoning, and cloud persistence</a:t>
            </a:r>
          </a:p>
        </p:txBody>
      </p:sp>
      <p:pic>
        <p:nvPicPr>
          <p:cNvPr id="4" name="Picture 3" descr="nexora_architecture_diagram.png"/>
          <p:cNvPicPr>
            <a:picLocks noChangeAspect="1"/>
          </p:cNvPicPr>
          <p:nvPr/>
        </p:nvPicPr>
        <p:blipFill>
          <a:blip r:embed="rId2"/>
          <a:stretch>
            <a:fillRect/>
          </a:stretch>
        </p:blipFill>
        <p:spPr>
          <a:xfrm>
            <a:off x="822960" y="1554480"/>
            <a:ext cx="10545775" cy="48463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15600" cy="1097280"/>
          </a:xfrm>
          <a:prstGeom prst="rect">
            <a:avLst/>
          </a:prstGeom>
          <a:noFill/>
        </p:spPr>
        <p:txBody>
          <a:bodyPr wrap="square" lIns="0" tIns="0" rIns="0" bIns="0">
            <a:spAutoFit/>
          </a:bodyPr>
          <a:lstStyle/>
          <a:p>
            <a:pPr>
              <a:spcAft>
                <a:spcPts val="300"/>
              </a:spcAft>
              <a:defRPr sz="1000" b="1">
                <a:solidFill>
                  <a:srgbClr val="4F46E5"/>
                </a:solidFill>
              </a:defRPr>
            </a:pPr>
            <a:r>
              <a:t>TECHNICAL EXECUTION</a:t>
            </a:r>
          </a:p>
          <a:p>
            <a:pPr>
              <a:defRPr sz="2200" b="1">
                <a:solidFill>
                  <a:srgbClr val="0F172A"/>
                </a:solidFill>
              </a:defRPr>
            </a:pPr>
            <a:r>
              <a:t>Architectural Stack &amp; System Components</a:t>
            </a:r>
          </a:p>
          <a:p>
            <a:pPr>
              <a:spcBef>
                <a:spcPts val="200"/>
              </a:spcBef>
              <a:defRPr sz="1150">
                <a:solidFill>
                  <a:srgbClr val="64748B"/>
                </a:solidFill>
              </a:defRPr>
            </a:pPr>
            <a:r>
              <a:t>Detailed technical specifications of the 4 core layers</a:t>
            </a:r>
          </a:p>
        </p:txBody>
      </p:sp>
      <p:sp>
        <p:nvSpPr>
          <p:cNvPr id="4" name="Rounded Rectangle 3"/>
          <p:cNvSpPr/>
          <p:nvPr/>
        </p:nvSpPr>
        <p:spPr>
          <a:xfrm>
            <a:off x="822960" y="1645920"/>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4F46E5"/>
                </a:solidFill>
              </a:defRPr>
            </a:pPr>
            <a:r>
              <a:t>Frontend Application Layer</a:t>
            </a:r>
          </a:p>
          <a:p>
            <a:pPr>
              <a:lnSpc>
                <a:spcPct val="118000"/>
              </a:lnSpc>
              <a:defRPr sz="1050">
                <a:solidFill>
                  <a:srgbClr val="334155"/>
                </a:solidFill>
              </a:defRPr>
            </a:pPr>
            <a:r>
              <a:t>• React 19 &amp; TypeScript for strict end-to-end type safety.</a:t>
            </a:r>
            <a:br/>
            <a:r>
              <a:t>• TailwindCSS with clean executive design tokens and Lucide Icons.</a:t>
            </a:r>
            <a:br/>
            <a:r>
              <a:t>• Web Speech API for voice requirement gathering &amp; chat speech-to-text.</a:t>
            </a:r>
            <a:br/>
            <a:r>
              <a:t>• Responsive single-page application with zero-latency tab navigation.</a:t>
            </a:r>
          </a:p>
        </p:txBody>
      </p:sp>
      <p:sp>
        <p:nvSpPr>
          <p:cNvPr id="5" name="Rounded Rectangle 4"/>
          <p:cNvSpPr/>
          <p:nvPr/>
        </p:nvSpPr>
        <p:spPr>
          <a:xfrm>
            <a:off x="6172200" y="1645920"/>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0284C7"/>
                </a:solidFill>
              </a:defRPr>
            </a:pPr>
            <a:r>
              <a:t>Adaptive Engine &amp; Algorithms</a:t>
            </a:r>
          </a:p>
          <a:p>
            <a:pPr>
              <a:lnSpc>
                <a:spcPct val="118000"/>
              </a:lnSpc>
              <a:defRPr sz="1050">
                <a:solidFill>
                  <a:srgbClr val="334155"/>
                </a:solidFill>
              </a:defRPr>
            </a:pPr>
            <a:r>
              <a:t>• Directed Acyclic Graph (DAG) Engine with topological prerequisite sorting.</a:t>
            </a:r>
            <a:br/>
            <a:r>
              <a:t>• Automated Diagnostic Skill Gap Scorer calculating mastery vs benchmarks.</a:t>
            </a:r>
            <a:br/>
            <a:r>
              <a:t>• Next-Best-Action (NBA) Scorer computing single highest-leverage task.</a:t>
            </a:r>
            <a:br/>
            <a:r>
              <a:t>• What-If Monte-Carlo Timeline Simulator modeling pacing shifts.</a:t>
            </a:r>
          </a:p>
        </p:txBody>
      </p:sp>
      <p:sp>
        <p:nvSpPr>
          <p:cNvPr id="6" name="Rounded Rectangle 5"/>
          <p:cNvSpPr/>
          <p:nvPr/>
        </p:nvSpPr>
        <p:spPr>
          <a:xfrm>
            <a:off x="822960" y="3977639"/>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0D9488"/>
                </a:solidFill>
              </a:defRPr>
            </a:pPr>
            <a:r>
              <a:t>AI Services &amp; LLM Layer</a:t>
            </a:r>
          </a:p>
          <a:p>
            <a:pPr>
              <a:lnSpc>
                <a:spcPct val="118000"/>
              </a:lnSpc>
              <a:defRPr sz="1050">
                <a:solidFill>
                  <a:srgbClr val="334155"/>
                </a:solidFill>
              </a:defRPr>
            </a:pPr>
            <a:r>
              <a:t>• Google Gemini 1.5 Flash &amp; 2.0 API with multi-turn conversational reasoning.</a:t>
            </a:r>
            <a:br/>
            <a:r>
              <a:t>• Dynamic system prompt pipeline injected with student profile &amp; milestones.</a:t>
            </a:r>
            <a:br/>
            <a:r>
              <a:t>• Resilient offline semantic intent classifier for instant fallback answers.</a:t>
            </a:r>
            <a:br/>
            <a:r>
              <a:t>• Dynamic MCQ assessment generator for custom skills.</a:t>
            </a:r>
          </a:p>
        </p:txBody>
      </p:sp>
      <p:sp>
        <p:nvSpPr>
          <p:cNvPr id="7" name="Rounded Rectangle 6"/>
          <p:cNvSpPr/>
          <p:nvPr/>
        </p:nvSpPr>
        <p:spPr>
          <a:xfrm>
            <a:off x="6172200" y="3977639"/>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0F172A"/>
                </a:solidFill>
              </a:defRPr>
            </a:pPr>
            <a:r>
              <a:t>Storage, Export &amp; Deployment</a:t>
            </a:r>
          </a:p>
          <a:p>
            <a:pPr>
              <a:lnSpc>
                <a:spcPct val="118000"/>
              </a:lnSpc>
              <a:defRPr sz="1050">
                <a:solidFill>
                  <a:srgbClr val="334155"/>
                </a:solidFill>
              </a:defRPr>
            </a:pPr>
            <a:r>
              <a:t>• LocalStorage Persistent Engine for instant offline session caching.</a:t>
            </a:r>
            <a:br/>
            <a:r>
              <a:t>• Firebase Cloud Auth &amp; Cloud Firestore profile sync (Optional).</a:t>
            </a:r>
            <a:br/>
            <a:r>
              <a:t>• jsPDF &amp; jsPDF-AutoTable for instantaneous ATS Resume PDF generation.</a:t>
            </a:r>
            <a:br/>
            <a:r>
              <a:t>• Continuous Deployment Pipeline: GitHub auto-deployed via Vercel.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15600" cy="1097280"/>
          </a:xfrm>
          <a:prstGeom prst="rect">
            <a:avLst/>
          </a:prstGeom>
          <a:noFill/>
        </p:spPr>
        <p:txBody>
          <a:bodyPr wrap="square" lIns="0" tIns="0" rIns="0" bIns="0">
            <a:spAutoFit/>
          </a:bodyPr>
          <a:lstStyle/>
          <a:p>
            <a:pPr>
              <a:spcAft>
                <a:spcPts val="300"/>
              </a:spcAft>
              <a:defRPr sz="1000" b="1">
                <a:solidFill>
                  <a:srgbClr val="4F46E5"/>
                </a:solidFill>
              </a:defRPr>
            </a:pPr>
            <a:r>
              <a:t>AI &amp; ML TECHNIQUES</a:t>
            </a:r>
          </a:p>
          <a:p>
            <a:pPr>
              <a:defRPr sz="2200" b="1">
                <a:solidFill>
                  <a:srgbClr val="0F172A"/>
                </a:solidFill>
              </a:defRPr>
            </a:pPr>
            <a:r>
              <a:t>Core Machine Learning &amp; LLM Implementations</a:t>
            </a:r>
          </a:p>
          <a:p>
            <a:pPr>
              <a:spcBef>
                <a:spcPts val="200"/>
              </a:spcBef>
              <a:defRPr sz="1150">
                <a:solidFill>
                  <a:srgbClr val="64748B"/>
                </a:solidFill>
              </a:defRPr>
            </a:pPr>
            <a:r>
              <a:t>How generative intelligence and topological graphs deliver customized learning</a:t>
            </a:r>
          </a:p>
        </p:txBody>
      </p:sp>
      <p:sp>
        <p:nvSpPr>
          <p:cNvPr id="4" name="Rounded Rectangle 3"/>
          <p:cNvSpPr/>
          <p:nvPr/>
        </p:nvSpPr>
        <p:spPr>
          <a:xfrm>
            <a:off x="822960" y="1645920"/>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4F46E5"/>
                </a:solidFill>
              </a:defRPr>
            </a:pPr>
            <a:r>
              <a:t>1. Large Language Model Integration</a:t>
            </a:r>
          </a:p>
          <a:p>
            <a:pPr>
              <a:lnSpc>
                <a:spcPct val="120000"/>
              </a:lnSpc>
              <a:defRPr sz="1050">
                <a:solidFill>
                  <a:srgbClr val="334155"/>
                </a:solidFill>
              </a:defRPr>
            </a:pPr>
            <a:r>
              <a:t>Integrated Google Gemini 1.5 Flash and 2.0 API with dynamic context injection. Sends full user state (Target Goal, Completed Milestones, Active Skill Gaps, Pacing) to generate tailored conversational guidance, code examples, and doubt resolution.</a:t>
            </a:r>
          </a:p>
        </p:txBody>
      </p:sp>
      <p:sp>
        <p:nvSpPr>
          <p:cNvPr id="5" name="Rounded Rectangle 4"/>
          <p:cNvSpPr/>
          <p:nvPr/>
        </p:nvSpPr>
        <p:spPr>
          <a:xfrm>
            <a:off x="6172200" y="1645920"/>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0284C7"/>
                </a:solidFill>
              </a:defRPr>
            </a:pPr>
            <a:r>
              <a:t>2. Topological Graph Traversal (DAG)</a:t>
            </a:r>
          </a:p>
          <a:p>
            <a:pPr>
              <a:lnSpc>
                <a:spcPct val="120000"/>
              </a:lnSpc>
              <a:defRPr sz="1050">
                <a:solidFill>
                  <a:srgbClr val="334155"/>
                </a:solidFill>
              </a:defRPr>
            </a:pPr>
            <a:r>
              <a:t>Implements graph-theoretic dependency trees where skills represent nodes and prerequisites represent directed edges. Automatically triggers remedial sub-branches when assessment scores drop below threshold benchmarks (70%).</a:t>
            </a:r>
          </a:p>
        </p:txBody>
      </p:sp>
      <p:sp>
        <p:nvSpPr>
          <p:cNvPr id="6" name="Rounded Rectangle 5"/>
          <p:cNvSpPr/>
          <p:nvPr/>
        </p:nvSpPr>
        <p:spPr>
          <a:xfrm>
            <a:off x="822960" y="3977639"/>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0D9488"/>
                </a:solidFill>
              </a:defRPr>
            </a:pPr>
            <a:r>
              <a:t>3. Structured Output &amp; JSON Enforcement</a:t>
            </a:r>
          </a:p>
          <a:p>
            <a:pPr>
              <a:lnSpc>
                <a:spcPct val="120000"/>
              </a:lnSpc>
              <a:defRPr sz="1050">
                <a:solidFill>
                  <a:srgbClr val="334155"/>
                </a:solidFill>
              </a:defRPr>
            </a:pPr>
            <a:r>
              <a:t>Utilizes strict JSON schema prompting to dynamically generate 8-step roadmap milestones, goal-specific challenge vectors, and diagnostic multiple-choice assessments on the fly.</a:t>
            </a:r>
          </a:p>
        </p:txBody>
      </p:sp>
      <p:sp>
        <p:nvSpPr>
          <p:cNvPr id="7" name="Rounded Rectangle 6"/>
          <p:cNvSpPr/>
          <p:nvPr/>
        </p:nvSpPr>
        <p:spPr>
          <a:xfrm>
            <a:off x="6172200" y="3977639"/>
            <a:ext cx="51663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600"/>
              </a:spcAft>
              <a:defRPr sz="1400" b="1">
                <a:solidFill>
                  <a:srgbClr val="0F172A"/>
                </a:solidFill>
              </a:defRPr>
            </a:pPr>
            <a:r>
              <a:t>4. Latency Management &amp; Offline Intelligence</a:t>
            </a:r>
          </a:p>
          <a:p>
            <a:pPr>
              <a:lnSpc>
                <a:spcPct val="120000"/>
              </a:lnSpc>
              <a:defRPr sz="1050">
                <a:solidFill>
                  <a:srgbClr val="334155"/>
                </a:solidFill>
              </a:defRPr>
            </a:pPr>
            <a:r>
              <a:t>Features multi-tiered execution with fast 4-second timeout handling and a semantic intent classifier capable of addressing technical comparisons (e.g. Web Dev vs ML), OOP, and DSA offline without freezing.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10515600" cy="1097280"/>
          </a:xfrm>
          <a:prstGeom prst="rect">
            <a:avLst/>
          </a:prstGeom>
          <a:noFill/>
        </p:spPr>
        <p:txBody>
          <a:bodyPr wrap="square" lIns="0" tIns="0" rIns="0" bIns="0">
            <a:spAutoFit/>
          </a:bodyPr>
          <a:lstStyle/>
          <a:p>
            <a:pPr>
              <a:spcAft>
                <a:spcPts val="300"/>
              </a:spcAft>
              <a:defRPr sz="1000" b="1">
                <a:solidFill>
                  <a:srgbClr val="4F46E5"/>
                </a:solidFill>
              </a:defRPr>
            </a:pPr>
            <a:r>
              <a:t>PRODUCT FEATURES</a:t>
            </a:r>
          </a:p>
          <a:p>
            <a:pPr>
              <a:defRPr sz="2200" b="1">
                <a:solidFill>
                  <a:srgbClr val="0F172A"/>
                </a:solidFill>
              </a:defRPr>
            </a:pPr>
            <a:r>
              <a:t>Key Features &amp; Core User Workflows</a:t>
            </a:r>
          </a:p>
          <a:p>
            <a:pPr>
              <a:spcBef>
                <a:spcPts val="200"/>
              </a:spcBef>
              <a:defRPr sz="1150">
                <a:solidFill>
                  <a:srgbClr val="64748B"/>
                </a:solidFill>
              </a:defRPr>
            </a:pPr>
            <a:r>
              <a:t>Comprehensive suite of integrated tools designed for continuous student mastery</a:t>
            </a:r>
          </a:p>
        </p:txBody>
      </p:sp>
      <p:sp>
        <p:nvSpPr>
          <p:cNvPr id="4" name="Rounded Rectangle 3"/>
          <p:cNvSpPr/>
          <p:nvPr/>
        </p:nvSpPr>
        <p:spPr>
          <a:xfrm>
            <a:off x="822960" y="1645920"/>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4F46E5"/>
                </a:solidFill>
              </a:defRPr>
            </a:pPr>
            <a:r>
              <a:t>AI Conversational Onboarding</a:t>
            </a:r>
          </a:p>
          <a:p>
            <a:pPr>
              <a:lnSpc>
                <a:spcPct val="115000"/>
              </a:lnSpc>
              <a:defRPr sz="1000">
                <a:solidFill>
                  <a:srgbClr val="334155"/>
                </a:solidFill>
              </a:defRPr>
            </a:pPr>
            <a:r>
              <a:t>Interactive voice &amp; text interface gathering user goals, time availability, and background.</a:t>
            </a:r>
          </a:p>
        </p:txBody>
      </p:sp>
      <p:sp>
        <p:nvSpPr>
          <p:cNvPr id="5" name="Rounded Rectangle 4"/>
          <p:cNvSpPr/>
          <p:nvPr/>
        </p:nvSpPr>
        <p:spPr>
          <a:xfrm>
            <a:off x="3474720" y="1645920"/>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0284C7"/>
                </a:solidFill>
              </a:defRPr>
            </a:pPr>
            <a:r>
              <a:t>Interactive Flowchart DAG</a:t>
            </a:r>
          </a:p>
          <a:p>
            <a:pPr>
              <a:lnSpc>
                <a:spcPct val="115000"/>
              </a:lnSpc>
              <a:defRPr sz="1000">
                <a:solidFill>
                  <a:srgbClr val="334155"/>
                </a:solidFill>
              </a:defRPr>
            </a:pPr>
            <a:r>
              <a:t>Visual dependency roadmap with clickable nodes, learning objectives, and status tags.</a:t>
            </a:r>
          </a:p>
        </p:txBody>
      </p:sp>
      <p:sp>
        <p:nvSpPr>
          <p:cNvPr id="6" name="Rounded Rectangle 5"/>
          <p:cNvSpPr/>
          <p:nvPr/>
        </p:nvSpPr>
        <p:spPr>
          <a:xfrm>
            <a:off x="6126480" y="1645920"/>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0D9488"/>
                </a:solidFill>
              </a:defRPr>
            </a:pPr>
            <a:r>
              <a:t>Automated Diagnostic Engine</a:t>
            </a:r>
          </a:p>
          <a:p>
            <a:pPr>
              <a:lnSpc>
                <a:spcPct val="115000"/>
              </a:lnSpc>
              <a:defRPr sz="1000">
                <a:solidFill>
                  <a:srgbClr val="334155"/>
                </a:solidFill>
              </a:defRPr>
            </a:pPr>
            <a:r>
              <a:t>Benchmark-driven MCQ quizzes that calculate real-time mastery percentages per skill.</a:t>
            </a:r>
          </a:p>
        </p:txBody>
      </p:sp>
      <p:sp>
        <p:nvSpPr>
          <p:cNvPr id="7" name="Rounded Rectangle 6"/>
          <p:cNvSpPr/>
          <p:nvPr/>
        </p:nvSpPr>
        <p:spPr>
          <a:xfrm>
            <a:off x="8778240" y="1645920"/>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0F172A"/>
                </a:solidFill>
              </a:defRPr>
            </a:pPr>
            <a:r>
              <a:t>Next-Best-Action (NBA)</a:t>
            </a:r>
          </a:p>
          <a:p>
            <a:pPr>
              <a:lnSpc>
                <a:spcPct val="115000"/>
              </a:lnSpc>
              <a:defRPr sz="1000">
                <a:solidFill>
                  <a:srgbClr val="334155"/>
                </a:solidFill>
              </a:defRPr>
            </a:pPr>
            <a:r>
              <a:t>Algorithmic decision engine computing the single highest-yield study task for today.</a:t>
            </a:r>
          </a:p>
        </p:txBody>
      </p:sp>
      <p:sp>
        <p:nvSpPr>
          <p:cNvPr id="8" name="Rounded Rectangle 7"/>
          <p:cNvSpPr/>
          <p:nvPr/>
        </p:nvSpPr>
        <p:spPr>
          <a:xfrm>
            <a:off x="822960" y="3977639"/>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4F46E5"/>
                </a:solidFill>
              </a:defRPr>
            </a:pPr>
            <a:r>
              <a:t>24/7 Context-Aware AI Chatbot</a:t>
            </a:r>
          </a:p>
          <a:p>
            <a:pPr>
              <a:lnSpc>
                <a:spcPct val="115000"/>
              </a:lnSpc>
              <a:defRPr sz="1000">
                <a:solidFill>
                  <a:srgbClr val="334155"/>
                </a:solidFill>
              </a:defRPr>
            </a:pPr>
            <a:r>
              <a:t>Intelligent tutor providing code blocks with copy buttons, comparisons, and exam tips.</a:t>
            </a:r>
          </a:p>
        </p:txBody>
      </p:sp>
      <p:sp>
        <p:nvSpPr>
          <p:cNvPr id="9" name="Rounded Rectangle 8"/>
          <p:cNvSpPr/>
          <p:nvPr/>
        </p:nvSpPr>
        <p:spPr>
          <a:xfrm>
            <a:off x="3474720" y="3977639"/>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0284C7"/>
                </a:solidFill>
              </a:defRPr>
            </a:pPr>
            <a:r>
              <a:t>ATS Resume Builder &amp; Scoring</a:t>
            </a:r>
          </a:p>
          <a:p>
            <a:pPr>
              <a:lnSpc>
                <a:spcPct val="115000"/>
              </a:lnSpc>
              <a:defRPr sz="1000">
                <a:solidFill>
                  <a:srgbClr val="334155"/>
                </a:solidFill>
              </a:defRPr>
            </a:pPr>
            <a:r>
              <a:t>Instant ATS score calculation, Google XYZ bullet optimizers, and 1-click PDF download.</a:t>
            </a:r>
          </a:p>
        </p:txBody>
      </p:sp>
      <p:sp>
        <p:nvSpPr>
          <p:cNvPr id="10" name="Rounded Rectangle 9"/>
          <p:cNvSpPr/>
          <p:nvPr/>
        </p:nvSpPr>
        <p:spPr>
          <a:xfrm>
            <a:off x="6126480" y="3977639"/>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0D9488"/>
                </a:solidFill>
              </a:defRPr>
            </a:pPr>
            <a:r>
              <a:t>What-If Scenario Simulator</a:t>
            </a:r>
          </a:p>
          <a:p>
            <a:pPr>
              <a:lnSpc>
                <a:spcPct val="115000"/>
              </a:lnSpc>
              <a:defRPr sz="1000">
                <a:solidFill>
                  <a:srgbClr val="334155"/>
                </a:solidFill>
              </a:defRPr>
            </a:pPr>
            <a:r>
              <a:t>Interactive time-commitment slider modeling how study pacing impacts target completion.</a:t>
            </a:r>
          </a:p>
        </p:txBody>
      </p:sp>
      <p:sp>
        <p:nvSpPr>
          <p:cNvPr id="11" name="Rounded Rectangle 10"/>
          <p:cNvSpPr/>
          <p:nvPr/>
        </p:nvSpPr>
        <p:spPr>
          <a:xfrm>
            <a:off x="8778240" y="3977639"/>
            <a:ext cx="251460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600"/>
              </a:spcAft>
              <a:defRPr sz="1200" b="1">
                <a:solidFill>
                  <a:srgbClr val="0F172A"/>
                </a:solidFill>
              </a:defRPr>
            </a:pPr>
            <a:r>
              <a:t>100% Free Resources Catalog</a:t>
            </a:r>
          </a:p>
          <a:p>
            <a:pPr>
              <a:lnSpc>
                <a:spcPct val="115000"/>
              </a:lnSpc>
              <a:defRPr sz="1000">
                <a:solidFill>
                  <a:srgbClr val="334155"/>
                </a:solidFill>
              </a:defRPr>
            </a:pPr>
            <a:r>
              <a:t>Curated zero-cost materials from MIT OpenCourseWare, CS50, Disha, HCV, &amp; freeCodeCamp.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120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548640" rIns="548640" tIns="457200"/>
          <a:lstStyle/>
          <a:p>
            <a:pPr algn="ctr">
              <a:spcAft>
                <a:spcPts val="800"/>
              </a:spcAft>
              <a:defRPr sz="1100" b="1">
                <a:solidFill>
                  <a:srgbClr val="4F46E5"/>
                </a:solidFill>
              </a:defRPr>
            </a:pPr>
            <a:r>
              <a:t>THE FUTURE OF ADAPTIVE EDUCATION</a:t>
            </a:r>
          </a:p>
          <a:p>
            <a:pPr>
              <a:spcAft>
                <a:spcPts val="1200"/>
              </a:spcAft>
              <a:defRPr sz="3600" b="1">
                <a:solidFill>
                  <a:srgbClr val="0F172A"/>
                </a:solidFill>
              </a:defRPr>
            </a:pPr>
            <a:r>
              <a:t>Thank You! Experience NEXORA SaaS Live</a:t>
            </a:r>
          </a:p>
          <a:p>
            <a:pPr>
              <a:spcAft>
                <a:spcPts val="2400"/>
              </a:spcAft>
              <a:defRPr sz="1300">
                <a:solidFill>
                  <a:srgbClr val="334155"/>
                </a:solidFill>
              </a:defRPr>
            </a:pPr>
            <a:r>
              <a:t>NEXORA bridges the gap between disorganized online educational content and structured, recruiter-ready student outcomes through intelligent sequencing, real-time diagnostics, and personalized AI mentorship.</a:t>
            </a:r>
          </a:p>
          <a:p>
            <a:pPr>
              <a:defRPr sz="1200" b="1">
                <a:solidFill>
                  <a:srgbClr val="4F46E5"/>
                </a:solidFill>
              </a:defRPr>
            </a:pPr>
            <a:r>
              <a:t>• Team: Talent Innovators</a:t>
            </a:r>
            <a:br/>
            <a:r>
              <a:t>• Live Web Application: https://nexora-path-finder.vercel.app</a:t>
            </a:r>
            <a:br/>
            <a:r>
              <a:t>• GitHub Repository: https://github.com/Sirivennela310505/NEXORA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